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mfortaa"/>
      <p:regular r:id="rId17"/>
    </p:embeddedFont>
    <p:embeddedFont>
      <p:font typeface="Comfortaa"/>
      <p:regular r:id="rId18"/>
    </p:embeddedFont>
    <p:embeddedFont>
      <p:font typeface="Raleway Medium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Uncovering insights from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3,900 transactions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across product categories to guide strategic business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04142"/>
            <a:ext cx="568118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at a Glance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007043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3,900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539954" y="41301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Purchases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267682" y="3007043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0" y="41301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Columns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9671328" y="3007043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37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347246" y="41301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Missing Ratings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864037" y="4750713"/>
            <a:ext cx="4136231" cy="1774746"/>
          </a:xfrm>
          <a:prstGeom prst="roundRect">
            <a:avLst>
              <a:gd name="adj" fmla="val 20867"/>
            </a:avLst>
          </a:prstGeom>
          <a:solidFill>
            <a:srgbClr val="46464A"/>
          </a:solidFill>
          <a:ln/>
        </p:spPr>
      </p:sp>
      <p:sp>
        <p:nvSpPr>
          <p:cNvPr id="10" name="Text 8"/>
          <p:cNvSpPr/>
          <p:nvPr/>
        </p:nvSpPr>
        <p:spPr>
          <a:xfrm>
            <a:off x="1110853" y="499752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Demographics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110853" y="5488543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Age, Gender, Location, Subscription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47084" y="4750713"/>
            <a:ext cx="4136231" cy="1774746"/>
          </a:xfrm>
          <a:prstGeom prst="roundRect">
            <a:avLst>
              <a:gd name="adj" fmla="val 20867"/>
            </a:avLst>
          </a:prstGeom>
          <a:solidFill>
            <a:srgbClr val="4646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93901" y="499752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Purchase Details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493901" y="5488543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Item, Category, Amount, Season, Size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4750713"/>
            <a:ext cx="4136231" cy="1774746"/>
          </a:xfrm>
          <a:prstGeom prst="roundRect">
            <a:avLst>
              <a:gd name="adj" fmla="val 20867"/>
            </a:avLst>
          </a:prstGeom>
          <a:solidFill>
            <a:srgbClr val="46464A"/>
          </a:solidFill>
          <a:ln/>
        </p:spPr>
      </p:sp>
      <p:sp>
        <p:nvSpPr>
          <p:cNvPr id="16" name="Text 14"/>
          <p:cNvSpPr/>
          <p:nvPr/>
        </p:nvSpPr>
        <p:spPr>
          <a:xfrm>
            <a:off x="9876949" y="499752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Behavior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9876949" y="5488543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Discounts, Frequency, Ratings, Shipping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993" y="658654"/>
            <a:ext cx="6716554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Preparation in Python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28993" y="1521500"/>
            <a:ext cx="424339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28993" y="1859161"/>
            <a:ext cx="765881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6228993" y="2010966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Load &amp; Explore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28993" y="2414945"/>
            <a:ext cx="7658814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Imported with pandas; used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28993" y="3087053"/>
            <a:ext cx="424339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28993" y="3424714"/>
            <a:ext cx="765881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6228993" y="3576518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Clean &amp; Impute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228993" y="3980498"/>
            <a:ext cx="765881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Filled missing Review Ratings with per-category median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228993" y="4637365"/>
            <a:ext cx="424339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8993" y="4975027"/>
            <a:ext cx="765881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6228993" y="5126831"/>
            <a:ext cx="253353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228993" y="5530810"/>
            <a:ext cx="7658814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Created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highlight>
                  <a:srgbClr val="34343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columns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28993" y="6202918"/>
            <a:ext cx="424339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228993" y="6540579"/>
            <a:ext cx="7658814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8" name="Text 15"/>
          <p:cNvSpPr/>
          <p:nvPr/>
        </p:nvSpPr>
        <p:spPr>
          <a:xfrm>
            <a:off x="6228993" y="6692384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DB Integration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228993" y="7096363"/>
            <a:ext cx="765881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Loaded cleaned data into PostgreSQL for SQL analysis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3598" y="577096"/>
            <a:ext cx="7182326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Analysis: Revenue Insights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598" y="1562100"/>
            <a:ext cx="5906929" cy="59069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98" y="1562100"/>
            <a:ext cx="5906929" cy="59069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7493" y="2797731"/>
            <a:ext cx="223230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by Gender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67493" y="3239214"/>
            <a:ext cx="59069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Compared total revenue from male vs. female customers.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7567493" y="3763566"/>
            <a:ext cx="5906929" cy="15002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7567493" y="4012049"/>
            <a:ext cx="261223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by Age Group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67493" y="4453533"/>
            <a:ext cx="5906929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Calculated total revenue contribution of each age group to identify high-value segments.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7567493" y="5268754"/>
            <a:ext cx="5906929" cy="15002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7567493" y="5517237"/>
            <a:ext cx="383571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Subscribers vs. Non-Subscribers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67493" y="5958721"/>
            <a:ext cx="59069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Subscribers show higher average spend and total revenue.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78067"/>
            <a:ext cx="981194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Analysis: Customer Segments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57619"/>
            <a:ext cx="4136231" cy="2367082"/>
          </a:xfrm>
          <a:prstGeom prst="roundRect">
            <a:avLst>
              <a:gd name="adj" fmla="val 15645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0853" y="3104436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3308033"/>
            <a:ext cx="333256" cy="333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853" y="409182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New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10853" y="4582835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First-time buyers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7084" y="2857619"/>
            <a:ext cx="4136231" cy="2367082"/>
          </a:xfrm>
          <a:prstGeom prst="roundRect">
            <a:avLst>
              <a:gd name="adj" fmla="val 15645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5493901" y="3104436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498" y="3308033"/>
            <a:ext cx="333256" cy="333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3901" y="409182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Returning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5493901" y="4582835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Moderate purchase history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2857619"/>
            <a:ext cx="4136231" cy="2367082"/>
          </a:xfrm>
          <a:prstGeom prst="roundRect">
            <a:avLst>
              <a:gd name="adj" fmla="val 15645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6949" y="3104436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0546" y="3308033"/>
            <a:ext cx="333256" cy="3332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6949" y="409182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76949" y="4582835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High-frequency repeat buyers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864037" y="5502354"/>
            <a:ext cx="12902327" cy="1049060"/>
          </a:xfrm>
          <a:prstGeom prst="roundRect">
            <a:avLst>
              <a:gd name="adj" fmla="val 35301"/>
            </a:avLst>
          </a:prstGeom>
          <a:solidFill>
            <a:srgbClr val="02234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53" y="5869186"/>
            <a:ext cx="308610" cy="2468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66280" y="5810845"/>
            <a:ext cx="1185326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Customers with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more than 5 purchases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are significantly more likely to hold an active subscription.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528" y="650915"/>
            <a:ext cx="9365813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Analysis: Products &amp; Discounts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6528" y="1807607"/>
            <a:ext cx="252888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5 by Rating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6528" y="2333506"/>
            <a:ext cx="4202073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Products with highest average review scores identified for campaign spotlighting.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6528" y="3676055"/>
            <a:ext cx="4202073" cy="17026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6528" y="3985855"/>
            <a:ext cx="252888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3 per Category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6528" y="4511754"/>
            <a:ext cx="420207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Most-purchased products ranked within each product category.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6528" y="5504378"/>
            <a:ext cx="4202073" cy="17026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6528" y="5814179"/>
            <a:ext cx="4004905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Discount-Dependent Products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96528" y="6340078"/>
            <a:ext cx="4202073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5 products with the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highest % of discounted purchases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flagged for margin review.</a:t>
            </a:r>
            <a:endParaRPr lang="en-US" sz="1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1528" y="2242304"/>
            <a:ext cx="8279844" cy="4691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3598" y="577096"/>
            <a:ext cx="7476053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Analysis: Shipping &amp; Spend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598" y="1562100"/>
            <a:ext cx="5906929" cy="59069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98" y="1562100"/>
            <a:ext cx="5906929" cy="59069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7493" y="3259455"/>
            <a:ext cx="315479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Shipping Type Comparison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67493" y="3700939"/>
            <a:ext cx="5906929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Average purchase amounts compared between </a:t>
            </a:r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Standard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Express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shipping customers.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7567493" y="4516160"/>
            <a:ext cx="5906929" cy="15002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7567493" y="4764643"/>
            <a:ext cx="36266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High-Spending Discount Users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67493" y="5206127"/>
            <a:ext cx="5906929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Customers who used discounts but still spent </a:t>
            </a:r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above average</a:t>
            </a:r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a key loyalty signal.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994184"/>
            <a:ext cx="57947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BI Dashboard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05026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 interactive dashboard built to present all findings visually — enabling stakeholders to explore segments, revenue, and product trends at a glance.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70861"/>
            <a:ext cx="80107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Recommendations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350413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557" y="2350413"/>
            <a:ext cx="121920" cy="223075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5" name="Text 3"/>
          <p:cNvSpPr/>
          <p:nvPr/>
        </p:nvSpPr>
        <p:spPr>
          <a:xfrm>
            <a:off x="1232773" y="2627709"/>
            <a:ext cx="29135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232773" y="3118723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Promote exclusive benefits to convert non-subscribers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7084" y="2350413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604" y="2350413"/>
            <a:ext cx="121920" cy="223075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9" name="Text 7"/>
          <p:cNvSpPr/>
          <p:nvPr/>
        </p:nvSpPr>
        <p:spPr>
          <a:xfrm>
            <a:off x="5615821" y="26277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Loyalty Programs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615821" y="3118723"/>
            <a:ext cx="34901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Reward repeat buyers to move them into the "Loyal" segment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350413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350413"/>
            <a:ext cx="121920" cy="223075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3" name="Text 11"/>
          <p:cNvSpPr/>
          <p:nvPr/>
        </p:nvSpPr>
        <p:spPr>
          <a:xfrm>
            <a:off x="9998869" y="2627709"/>
            <a:ext cx="32059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9998869" y="3118723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Balance sales boosts with margin control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4037" y="4827984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557" y="4827984"/>
            <a:ext cx="121920" cy="223075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773" y="5105281"/>
            <a:ext cx="28161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232773" y="5596295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Highlight top-rated and best-selling products in campaigns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47084" y="4827984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604" y="4827984"/>
            <a:ext cx="121920" cy="2230755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21" name="Text 19"/>
          <p:cNvSpPr/>
          <p:nvPr/>
        </p:nvSpPr>
        <p:spPr>
          <a:xfrm>
            <a:off x="5615821" y="5105281"/>
            <a:ext cx="28170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5615821" y="5596295"/>
            <a:ext cx="34901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Focus on high-revenue age groups and express-shipping users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7924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Takeaways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758797"/>
            <a:ext cx="4136231" cy="2169795"/>
          </a:xfrm>
          <a:prstGeom prst="roundRect">
            <a:avLst>
              <a:gd name="adj" fmla="val 17068"/>
            </a:avLst>
          </a:prstGeom>
          <a:solidFill>
            <a:srgbClr val="46464A"/>
          </a:solidFill>
          <a:ln/>
        </p:spPr>
      </p:sp>
      <p:sp>
        <p:nvSpPr>
          <p:cNvPr id="4" name="Text 2"/>
          <p:cNvSpPr/>
          <p:nvPr/>
        </p:nvSpPr>
        <p:spPr>
          <a:xfrm>
            <a:off x="1110853" y="30056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3,900 Transactions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110853" y="3496627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Rich dataset across demographics, behavior &amp; products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084" y="2758797"/>
            <a:ext cx="4136231" cy="2169795"/>
          </a:xfrm>
          <a:prstGeom prst="roundRect">
            <a:avLst>
              <a:gd name="adj" fmla="val 17068"/>
            </a:avLst>
          </a:prstGeom>
          <a:solidFill>
            <a:srgbClr val="46464A"/>
          </a:solidFill>
          <a:ln/>
        </p:spPr>
      </p:sp>
      <p:sp>
        <p:nvSpPr>
          <p:cNvPr id="7" name="Text 5"/>
          <p:cNvSpPr/>
          <p:nvPr/>
        </p:nvSpPr>
        <p:spPr>
          <a:xfrm>
            <a:off x="5493901" y="3005614"/>
            <a:ext cx="34298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Python + SQL + Power BI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493901" y="3496627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End-to-end pipeline from raw data to visual insights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2758797"/>
            <a:ext cx="4136231" cy="2169795"/>
          </a:xfrm>
          <a:prstGeom prst="roundRect">
            <a:avLst>
              <a:gd name="adj" fmla="val 17068"/>
            </a:avLst>
          </a:prstGeom>
          <a:solidFill>
            <a:srgbClr val="46464A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005614"/>
            <a:ext cx="303264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Actionable Segments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876949" y="3496627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New, Returning &amp; Loyal customers identified for targeting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4037" y="5206246"/>
            <a:ext cx="12902327" cy="1444109"/>
          </a:xfrm>
          <a:prstGeom prst="roundRect">
            <a:avLst>
              <a:gd name="adj" fmla="val 25644"/>
            </a:avLst>
          </a:prstGeom>
          <a:solidFill>
            <a:srgbClr val="183A1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853" y="5573078"/>
            <a:ext cx="308610" cy="24681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66280" y="5514737"/>
            <a:ext cx="1185326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Data-driven decisions across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subscriptions, discounts, products, and marketing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can meaningfully grow revenue.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2026-04-25T14:37:41Z</dcterms:created>
  <dcterms:modified xsi:type="dcterms:W3CDTF">2026-04-25T14:37:41Z</dcterms:modified>
</cp:coreProperties>
</file>